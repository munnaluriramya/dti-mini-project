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0"/>
  </p:notesMasterIdLst>
  <p:handoutMasterIdLst>
    <p:handoutMasterId r:id="rId21"/>
  </p:handoutMasterIdLst>
  <p:sldIdLst>
    <p:sldId id="318" r:id="rId5"/>
    <p:sldId id="309" r:id="rId6"/>
    <p:sldId id="263" r:id="rId7"/>
    <p:sldId id="310" r:id="rId8"/>
    <p:sldId id="311" r:id="rId9"/>
    <p:sldId id="312" r:id="rId10"/>
    <p:sldId id="316" r:id="rId11"/>
    <p:sldId id="314" r:id="rId12"/>
    <p:sldId id="319" r:id="rId13"/>
    <p:sldId id="320" r:id="rId14"/>
    <p:sldId id="321" r:id="rId15"/>
    <p:sldId id="322" r:id="rId16"/>
    <p:sldId id="323" r:id="rId17"/>
    <p:sldId id="324" r:id="rId18"/>
    <p:sldId id="30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0AABDB-9A34-4380-BF79-46F789687C43}" v="380" dt="2026-04-16T13:09:54.505"/>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011" autoAdjust="0"/>
  </p:normalViewPr>
  <p:slideViewPr>
    <p:cSldViewPr snapToGrid="0">
      <p:cViewPr varScale="1">
        <p:scale>
          <a:sx n="90" d="100"/>
          <a:sy n="90" d="100"/>
        </p:scale>
        <p:origin x="552" y="53"/>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LL LAPTOP" userId="7f4045fa1f452833" providerId="Windows Live" clId="Web-{EF0AABDB-9A34-4380-BF79-46F789687C43}"/>
    <pc:docChg chg="modSld">
      <pc:chgData name="DELL LAPTOP" userId="7f4045fa1f452833" providerId="Windows Live" clId="Web-{EF0AABDB-9A34-4380-BF79-46F789687C43}" dt="2026-04-16T13:09:54.505" v="214" actId="14100"/>
      <pc:docMkLst>
        <pc:docMk/>
      </pc:docMkLst>
      <pc:sldChg chg="addSp delSp modSp">
        <pc:chgData name="DELL LAPTOP" userId="7f4045fa1f452833" providerId="Windows Live" clId="Web-{EF0AABDB-9A34-4380-BF79-46F789687C43}" dt="2026-04-16T13:09:54.505" v="214" actId="14100"/>
        <pc:sldMkLst>
          <pc:docMk/>
          <pc:sldMk cId="980000643" sldId="318"/>
        </pc:sldMkLst>
        <pc:spChg chg="mod">
          <ac:chgData name="DELL LAPTOP" userId="7f4045fa1f452833" providerId="Windows Live" clId="Web-{EF0AABDB-9A34-4380-BF79-46F789687C43}" dt="2026-04-16T12:26:38.252" v="116" actId="20577"/>
          <ac:spMkLst>
            <pc:docMk/>
            <pc:sldMk cId="980000643" sldId="318"/>
            <ac:spMk id="3" creationId="{EAA9B228-81A3-D5F6-B0C3-BFFBF9C83F28}"/>
          </ac:spMkLst>
        </pc:spChg>
        <pc:picChg chg="del">
          <ac:chgData name="DELL LAPTOP" userId="7f4045fa1f452833" providerId="Windows Live" clId="Web-{EF0AABDB-9A34-4380-BF79-46F789687C43}" dt="2026-04-16T13:08:57.098" v="204"/>
          <ac:picMkLst>
            <pc:docMk/>
            <pc:sldMk cId="980000643" sldId="318"/>
            <ac:picMk id="2" creationId="{B242CD97-E3F9-0C0E-EFA5-852DBDA29962}"/>
          </ac:picMkLst>
        </pc:picChg>
        <pc:picChg chg="add mod modCrop">
          <ac:chgData name="DELL LAPTOP" userId="7f4045fa1f452833" providerId="Windows Live" clId="Web-{EF0AABDB-9A34-4380-BF79-46F789687C43}" dt="2026-04-16T13:09:54.505" v="214" actId="14100"/>
          <ac:picMkLst>
            <pc:docMk/>
            <pc:sldMk cId="980000643" sldId="318"/>
            <ac:picMk id="4" creationId="{28269D5F-BEA1-DE7F-0E2C-EEBDF5ADC6DF}"/>
          </ac:picMkLst>
        </pc:picChg>
      </pc:sldChg>
      <pc:sldChg chg="addSp delSp modSp">
        <pc:chgData name="DELL LAPTOP" userId="7f4045fa1f452833" providerId="Windows Live" clId="Web-{EF0AABDB-9A34-4380-BF79-46F789687C43}" dt="2026-04-16T12:32:50.498" v="141" actId="1076"/>
        <pc:sldMkLst>
          <pc:docMk/>
          <pc:sldMk cId="2849992554" sldId="320"/>
        </pc:sldMkLst>
        <pc:picChg chg="add mod">
          <ac:chgData name="DELL LAPTOP" userId="7f4045fa1f452833" providerId="Windows Live" clId="Web-{EF0AABDB-9A34-4380-BF79-46F789687C43}" dt="2026-04-16T12:30:37.371" v="124" actId="14100"/>
          <ac:picMkLst>
            <pc:docMk/>
            <pc:sldMk cId="2849992554" sldId="320"/>
            <ac:picMk id="2" creationId="{A9BB3A62-851D-2F00-BC83-841EBFA41E7D}"/>
          </ac:picMkLst>
        </pc:picChg>
        <pc:picChg chg="del">
          <ac:chgData name="DELL LAPTOP" userId="7f4045fa1f452833" providerId="Windows Live" clId="Web-{EF0AABDB-9A34-4380-BF79-46F789687C43}" dt="2026-04-16T12:29:50.322" v="117"/>
          <ac:picMkLst>
            <pc:docMk/>
            <pc:sldMk cId="2849992554" sldId="320"/>
            <ac:picMk id="4" creationId="{69648441-24DD-96DE-A9DC-0FEB880F828B}"/>
          </ac:picMkLst>
        </pc:picChg>
        <pc:picChg chg="del">
          <ac:chgData name="DELL LAPTOP" userId="7f4045fa1f452833" providerId="Windows Live" clId="Web-{EF0AABDB-9A34-4380-BF79-46F789687C43}" dt="2026-04-16T12:31:13.992" v="125"/>
          <ac:picMkLst>
            <pc:docMk/>
            <pc:sldMk cId="2849992554" sldId="320"/>
            <ac:picMk id="5" creationId="{77AF12F8-D2B7-8E30-22C6-ABC33CCB55FD}"/>
          </ac:picMkLst>
        </pc:picChg>
        <pc:picChg chg="add mod">
          <ac:chgData name="DELL LAPTOP" userId="7f4045fa1f452833" providerId="Windows Live" clId="Web-{EF0AABDB-9A34-4380-BF79-46F789687C43}" dt="2026-04-16T12:32:15.654" v="133" actId="14100"/>
          <ac:picMkLst>
            <pc:docMk/>
            <pc:sldMk cId="2849992554" sldId="320"/>
            <ac:picMk id="6" creationId="{23E99754-C8D5-DE80-0CC1-C670946D1B14}"/>
          </ac:picMkLst>
        </pc:picChg>
        <pc:picChg chg="add mod">
          <ac:chgData name="DELL LAPTOP" userId="7f4045fa1f452833" providerId="Windows Live" clId="Web-{EF0AABDB-9A34-4380-BF79-46F789687C43}" dt="2026-04-16T12:32:50.498" v="141" actId="1076"/>
          <ac:picMkLst>
            <pc:docMk/>
            <pc:sldMk cId="2849992554" sldId="320"/>
            <ac:picMk id="8" creationId="{6835F807-D9FA-5F93-7A24-242E00F4390D}"/>
          </ac:picMkLst>
        </pc:picChg>
      </pc:sldChg>
      <pc:sldChg chg="addSp delSp modSp">
        <pc:chgData name="DELL LAPTOP" userId="7f4045fa1f452833" providerId="Windows Live" clId="Web-{EF0AABDB-9A34-4380-BF79-46F789687C43}" dt="2026-04-16T13:08:05.394" v="203" actId="14100"/>
        <pc:sldMkLst>
          <pc:docMk/>
          <pc:sldMk cId="3797937710" sldId="321"/>
        </pc:sldMkLst>
        <pc:spChg chg="mod">
          <ac:chgData name="DELL LAPTOP" userId="7f4045fa1f452833" providerId="Windows Live" clId="Web-{EF0AABDB-9A34-4380-BF79-46F789687C43}" dt="2026-04-16T12:52:53.735" v="160" actId="20577"/>
          <ac:spMkLst>
            <pc:docMk/>
            <pc:sldMk cId="3797937710" sldId="321"/>
            <ac:spMk id="9" creationId="{DFD96709-4A32-15E0-A758-71E7DCABC40D}"/>
          </ac:spMkLst>
        </pc:spChg>
        <pc:spChg chg="mod">
          <ac:chgData name="DELL LAPTOP" userId="7f4045fa1f452833" providerId="Windows Live" clId="Web-{EF0AABDB-9A34-4380-BF79-46F789687C43}" dt="2026-04-16T12:53:14.735" v="178" actId="20577"/>
          <ac:spMkLst>
            <pc:docMk/>
            <pc:sldMk cId="3797937710" sldId="321"/>
            <ac:spMk id="11" creationId="{71BAE565-020A-3C36-F763-6FF8D03EC3C8}"/>
          </ac:spMkLst>
        </pc:spChg>
        <pc:picChg chg="del">
          <ac:chgData name="DELL LAPTOP" userId="7f4045fa1f452833" providerId="Windows Live" clId="Web-{EF0AABDB-9A34-4380-BF79-46F789687C43}" dt="2026-04-16T13:07:07.893" v="195"/>
          <ac:picMkLst>
            <pc:docMk/>
            <pc:sldMk cId="3797937710" sldId="321"/>
            <ac:picMk id="2" creationId="{59C1C6CF-49D9-E77B-C498-2588A2B5458E}"/>
          </ac:picMkLst>
        </pc:picChg>
        <pc:picChg chg="add mod">
          <ac:chgData name="DELL LAPTOP" userId="7f4045fa1f452833" providerId="Windows Live" clId="Web-{EF0AABDB-9A34-4380-BF79-46F789687C43}" dt="2026-04-16T12:55:21.126" v="185" actId="14100"/>
          <ac:picMkLst>
            <pc:docMk/>
            <pc:sldMk cId="3797937710" sldId="321"/>
            <ac:picMk id="3" creationId="{E72A60A1-E6C8-5BF9-1C1F-2C7BB393D825}"/>
          </ac:picMkLst>
        </pc:picChg>
        <pc:picChg chg="add mod">
          <ac:chgData name="DELL LAPTOP" userId="7f4045fa1f452833" providerId="Windows Live" clId="Web-{EF0AABDB-9A34-4380-BF79-46F789687C43}" dt="2026-04-16T13:08:05.394" v="203" actId="14100"/>
          <ac:picMkLst>
            <pc:docMk/>
            <pc:sldMk cId="3797937710" sldId="321"/>
            <ac:picMk id="4" creationId="{022BB7B4-AAA1-F5E8-389C-C28D68F18BB1}"/>
          </ac:picMkLst>
        </pc:picChg>
        <pc:picChg chg="del">
          <ac:chgData name="DELL LAPTOP" userId="7f4045fa1f452833" providerId="Windows Live" clId="Web-{EF0AABDB-9A34-4380-BF79-46F789687C43}" dt="2026-04-16T12:54:50.283" v="179"/>
          <ac:picMkLst>
            <pc:docMk/>
            <pc:sldMk cId="3797937710" sldId="321"/>
            <ac:picMk id="6" creationId="{FB04439C-7F4F-3D58-CA57-00F89103AA72}"/>
          </ac:picMkLst>
        </pc:picChg>
      </pc:sldChg>
      <pc:sldChg chg="addSp delSp modSp">
        <pc:chgData name="DELL LAPTOP" userId="7f4045fa1f452833" providerId="Windows Live" clId="Web-{EF0AABDB-9A34-4380-BF79-46F789687C43}" dt="2026-04-16T12:56:19.423" v="194" actId="1076"/>
        <pc:sldMkLst>
          <pc:docMk/>
          <pc:sldMk cId="848517116" sldId="322"/>
        </pc:sldMkLst>
        <pc:picChg chg="add mod">
          <ac:chgData name="DELL LAPTOP" userId="7f4045fa1f452833" providerId="Windows Live" clId="Web-{EF0AABDB-9A34-4380-BF79-46F789687C43}" dt="2026-04-16T12:56:19.423" v="194" actId="1076"/>
          <ac:picMkLst>
            <pc:docMk/>
            <pc:sldMk cId="848517116" sldId="322"/>
            <ac:picMk id="2" creationId="{9A8B9C0E-DD51-DB88-A0E2-D678A7E9BD60}"/>
          </ac:picMkLst>
        </pc:picChg>
        <pc:picChg chg="del">
          <ac:chgData name="DELL LAPTOP" userId="7f4045fa1f452833" providerId="Windows Live" clId="Web-{EF0AABDB-9A34-4380-BF79-46F789687C43}" dt="2026-04-16T12:55:51.095" v="186"/>
          <ac:picMkLst>
            <pc:docMk/>
            <pc:sldMk cId="848517116" sldId="322"/>
            <ac:picMk id="3" creationId="{0076A55D-DA54-50EE-B4BC-E279BD1EBDA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4/16/2026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4/16/2026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A9D9C-EF24-696E-FB71-4801AD907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0CDE32-FAD2-BC29-6F44-77B1CCFCA7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7A3633-EB75-516E-D4F7-C59318F216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29CECC-65D2-026F-8CC1-500DA3F8B5D0}"/>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1928543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DA75D-3239-3F54-D90A-9C98195A3B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00D34-47B6-280D-9958-15A362660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3EFF7-7350-DA55-F6B6-34A4A3A120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C42B69-4848-9C78-CE31-80ACBACFEB7D}"/>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1019610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0FFB7-7872-74A4-790A-7701D3CC1D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F8A2F-B292-378F-DFB1-AF7EECE86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3A9E6-3CE3-B71A-B21E-6A12D5C038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9386AD-743A-09FC-B078-B41B29DE7271}"/>
              </a:ext>
            </a:extLst>
          </p:cNvPr>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70728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2861-3FF3-5873-A233-04155FBA10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6D36A1-4663-7F34-A8A1-41B20F3A1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5859B5-9245-B754-2BCC-35F547F55F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B4A5F7-2D06-D3BB-22E9-C0BFE1E10D5E}"/>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3476779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E9535-7606-2AFF-41F0-FCF439AA4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687830-F0CA-C280-9D99-F275BFBC7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577ED0-A7BF-E243-D5C4-1BD7585D4F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FFFEE8-D806-2C4E-ADC7-6603587EC031}"/>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3233776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88DA8-C573-A263-9F3D-E44D85E5B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5A4D3B-25C6-DB3D-08DA-E0CEEE513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F710E-9979-0D6A-D89B-E398A37480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4B8B09-D298-E0E2-D335-6A148CF16FDE}"/>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19688281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B9639-2102-46F5-29AD-3B38E2CC9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6757A9-C1CA-3F18-2AA7-BD79FB7EF9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F7B35-3502-6EAD-D48F-22CEC95E86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BD7359-F4DD-0570-6402-47E61EE6908A}"/>
              </a:ext>
            </a:extLst>
          </p:cNvPr>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2786861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9.jpe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B7173-77DD-D59B-D531-A2A0AAAF77D4}"/>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29D5277F-5992-A006-B286-834191CBF2C0}"/>
              </a:ext>
            </a:extLst>
          </p:cNvPr>
          <p:cNvSpPr>
            <a:spLocks noGrp="1"/>
          </p:cNvSpPr>
          <p:nvPr>
            <p:ph type="title"/>
          </p:nvPr>
        </p:nvSpPr>
        <p:spPr>
          <a:xfrm>
            <a:off x="3045202" y="142612"/>
            <a:ext cx="8657187" cy="1291821"/>
          </a:xfrm>
        </p:spPr>
        <p:txBody>
          <a:bodyPr anchor="b"/>
          <a:lstStyle/>
          <a:p>
            <a:r>
              <a:rPr lang="en-US" dirty="0"/>
              <a:t>Smart Queue System</a:t>
            </a:r>
          </a:p>
        </p:txBody>
      </p:sp>
      <p:sp>
        <p:nvSpPr>
          <p:cNvPr id="3" name="TextBox 2">
            <a:extLst>
              <a:ext uri="{FF2B5EF4-FFF2-40B4-BE49-F238E27FC236}">
                <a16:creationId xmlns:a16="http://schemas.microsoft.com/office/drawing/2014/main" id="{EAA9B228-81A3-D5F6-B0C3-BFFBF9C83F28}"/>
              </a:ext>
            </a:extLst>
          </p:cNvPr>
          <p:cNvSpPr txBox="1"/>
          <p:nvPr/>
        </p:nvSpPr>
        <p:spPr>
          <a:xfrm>
            <a:off x="9278225" y="4802347"/>
            <a:ext cx="2709644" cy="1384995"/>
          </a:xfrm>
          <a:prstGeom prst="rect">
            <a:avLst/>
          </a:prstGeom>
          <a:noFill/>
        </p:spPr>
        <p:txBody>
          <a:bodyPr wrap="square" lIns="91440" tIns="45720" rIns="91440" bIns="45720" rtlCol="0" anchor="t">
            <a:spAutoFit/>
          </a:bodyPr>
          <a:lstStyle/>
          <a:p>
            <a:r>
              <a:rPr lang="en-US" sz="1200" b="1" dirty="0">
                <a:solidFill>
                  <a:schemeClr val="tx1">
                    <a:lumMod val="50000"/>
                  </a:schemeClr>
                </a:solidFill>
              </a:rPr>
              <a:t>Prepared By:</a:t>
            </a:r>
            <a:br>
              <a:rPr lang="en-US" sz="1200" b="1" dirty="0">
                <a:solidFill>
                  <a:schemeClr val="tx1">
                    <a:lumMod val="50000"/>
                  </a:schemeClr>
                </a:solidFill>
              </a:rPr>
            </a:br>
            <a:endParaRPr lang="en-US" sz="1200" b="1" dirty="0">
              <a:solidFill>
                <a:schemeClr val="tx1">
                  <a:lumMod val="50000"/>
                </a:schemeClr>
              </a:solidFill>
            </a:endParaRPr>
          </a:p>
          <a:p>
            <a:r>
              <a:rPr lang="en-US" sz="1200">
                <a:solidFill>
                  <a:schemeClr val="tx1">
                    <a:lumMod val="50000"/>
                  </a:schemeClr>
                </a:solidFill>
              </a:rPr>
              <a:t>K. SINDHU BHARATHI(24BQ1A4370)</a:t>
            </a:r>
            <a:endParaRPr lang="en-US" sz="1200" dirty="0">
              <a:solidFill>
                <a:schemeClr val="tx1">
                  <a:lumMod val="50000"/>
                </a:schemeClr>
              </a:solidFill>
            </a:endParaRPr>
          </a:p>
          <a:p>
            <a:r>
              <a:rPr lang="en-US" sz="1200">
                <a:solidFill>
                  <a:schemeClr val="tx1">
                    <a:lumMod val="50000"/>
                  </a:schemeClr>
                </a:solidFill>
              </a:rPr>
              <a:t>K. NAGA NIVEDITHA(24BQ1A4390)</a:t>
            </a:r>
            <a:endParaRPr lang="en-US" sz="1200" dirty="0">
              <a:solidFill>
                <a:schemeClr val="tx1">
                  <a:lumMod val="50000"/>
                </a:schemeClr>
              </a:solidFill>
            </a:endParaRPr>
          </a:p>
          <a:p>
            <a:r>
              <a:rPr lang="en-US" sz="1200">
                <a:solidFill>
                  <a:schemeClr val="tx1">
                    <a:lumMod val="50000"/>
                  </a:schemeClr>
                </a:solidFill>
              </a:rPr>
              <a:t>M. RAMYA(24BQ1A43A7)</a:t>
            </a:r>
            <a:endParaRPr lang="en-US" sz="1200" dirty="0">
              <a:solidFill>
                <a:schemeClr val="tx1">
                  <a:lumMod val="50000"/>
                </a:schemeClr>
              </a:solidFill>
            </a:endParaRPr>
          </a:p>
          <a:p>
            <a:r>
              <a:rPr lang="en-US" sz="1200">
                <a:solidFill>
                  <a:schemeClr val="tx1">
                    <a:lumMod val="50000"/>
                  </a:schemeClr>
                </a:solidFill>
              </a:rPr>
              <a:t>N. SRAVANI(24BQ1A43B4)</a:t>
            </a:r>
            <a:endParaRPr lang="en-US" sz="1200" dirty="0">
              <a:solidFill>
                <a:schemeClr val="tx1">
                  <a:lumMod val="50000"/>
                </a:schemeClr>
              </a:solidFill>
            </a:endParaRPr>
          </a:p>
          <a:p>
            <a:r>
              <a:rPr lang="en-US" sz="1200">
                <a:solidFill>
                  <a:schemeClr val="tx1">
                    <a:lumMod val="50000"/>
                  </a:schemeClr>
                </a:solidFill>
              </a:rPr>
              <a:t>P. VARSHINI(24BQ1A43C4)</a:t>
            </a:r>
            <a:endParaRPr lang="en-US" sz="1200" dirty="0">
              <a:solidFill>
                <a:schemeClr val="tx1">
                  <a:lumMod val="50000"/>
                </a:schemeClr>
              </a:solidFill>
            </a:endParaRPr>
          </a:p>
        </p:txBody>
      </p:sp>
      <p:pic>
        <p:nvPicPr>
          <p:cNvPr id="4" name="Picture 3" descr="A collage of a book cover&#10;&#10;AI-generated content may be incorrect.">
            <a:extLst>
              <a:ext uri="{FF2B5EF4-FFF2-40B4-BE49-F238E27FC236}">
                <a16:creationId xmlns:a16="http://schemas.microsoft.com/office/drawing/2014/main" id="{28269D5F-BEA1-DE7F-0E2C-EEBDF5ADC6DF}"/>
              </a:ext>
            </a:extLst>
          </p:cNvPr>
          <p:cNvPicPr>
            <a:picLocks noChangeAspect="1"/>
          </p:cNvPicPr>
          <p:nvPr/>
        </p:nvPicPr>
        <p:blipFill>
          <a:blip r:embed="rId3"/>
          <a:srcRect r="-242" b="13889"/>
          <a:stretch>
            <a:fillRect/>
          </a:stretch>
        </p:blipFill>
        <p:spPr>
          <a:xfrm>
            <a:off x="4208107" y="1428750"/>
            <a:ext cx="4216323" cy="4893476"/>
          </a:xfrm>
          <a:prstGeom prst="rect">
            <a:avLst/>
          </a:prstGeom>
        </p:spPr>
      </p:pic>
    </p:spTree>
    <p:extLst>
      <p:ext uri="{BB962C8B-B14F-4D97-AF65-F5344CB8AC3E}">
        <p14:creationId xmlns:p14="http://schemas.microsoft.com/office/powerpoint/2010/main" val="980000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3927893" y="436228"/>
            <a:ext cx="2934301" cy="528506"/>
          </a:xfrm>
        </p:spPr>
        <p:txBody>
          <a:bodyPr/>
          <a:lstStyle/>
          <a:p>
            <a:r>
              <a:rPr lang="en-US" sz="1800" b="1" dirty="0">
                <a:latin typeface="Times New Roman" panose="02020603050405020304" pitchFamily="18" charset="0"/>
                <a:cs typeface="Times New Roman" panose="02020603050405020304" pitchFamily="18" charset="0"/>
              </a:rPr>
              <a:t>Problem Statement:</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1636776" y="1275713"/>
            <a:ext cx="8371290" cy="1643655"/>
          </a:xfrm>
        </p:spPr>
        <p:txBody>
          <a:bodyPr>
            <a:noAutofit/>
          </a:bodyPr>
          <a:lstStyle/>
          <a:p>
            <a:pPr marL="0" indent="0" algn="just">
              <a:buNone/>
            </a:pPr>
            <a:r>
              <a:rPr lang="en-US" sz="1600" dirty="0">
                <a:latin typeface="Times New Roman" panose="02020603050405020304" pitchFamily="18" charset="0"/>
                <a:cs typeface="Times New Roman" panose="02020603050405020304" pitchFamily="18" charset="0"/>
              </a:rPr>
              <a:t>In today’s growing urban environments, bus stops often face overcrowding and unorganized passenger queues, especially during peak hours. Commuters lack real-time information about bus arrivals, waiting times, and boarding order, which leads to confusion and delays. Vulnerable groups such as senior citizens and people with disabilities are particularly affected by this situation. Moreover, transport authorities do not have accurate data on passenger demand at bus stops, resulting in inefficient scheduling. Therefore, a smart queue management system is needed to organize boarding, reduce congestion, and improve public transport efficiency.</a:t>
            </a:r>
          </a:p>
        </p:txBody>
      </p:sp>
      <p:sp>
        <p:nvSpPr>
          <p:cNvPr id="7" name="TextBox 6">
            <a:extLst>
              <a:ext uri="{FF2B5EF4-FFF2-40B4-BE49-F238E27FC236}">
                <a16:creationId xmlns:a16="http://schemas.microsoft.com/office/drawing/2014/main" id="{1EBB7302-12E1-CC76-88EC-FE07288F9519}"/>
              </a:ext>
            </a:extLst>
          </p:cNvPr>
          <p:cNvSpPr txBox="1"/>
          <p:nvPr/>
        </p:nvSpPr>
        <p:spPr>
          <a:xfrm>
            <a:off x="1636776" y="3366665"/>
            <a:ext cx="8145710" cy="1846659"/>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Objectives: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the challenges faced by commuters at busy bus stops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identify problems related to overcrowding and unorganized queues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explore how a smart queue management system can improve the waiting experience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congestion and waiting time during peak hours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ensure fair, safe, and organized boarding for all passengers</a:t>
            </a:r>
          </a:p>
        </p:txBody>
      </p:sp>
    </p:spTree>
    <p:extLst>
      <p:ext uri="{BB962C8B-B14F-4D97-AF65-F5344CB8AC3E}">
        <p14:creationId xmlns:p14="http://schemas.microsoft.com/office/powerpoint/2010/main" val="196691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0C5CB36-F67F-496A-B0E4-A3AA59CCB92E}"/>
              </a:ext>
            </a:extLst>
          </p:cNvPr>
          <p:cNvSpPr txBox="1"/>
          <p:nvPr/>
        </p:nvSpPr>
        <p:spPr>
          <a:xfrm>
            <a:off x="3238151" y="822121"/>
            <a:ext cx="8372212" cy="470898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Understanding the Problem Space:</a:t>
            </a:r>
          </a:p>
          <a:p>
            <a:endParaRPr lang="en-IN" b="1"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 Bus stops experience heavy overcrowding during peak hours due to high passenger demand</a:t>
            </a:r>
          </a:p>
          <a:p>
            <a:pPr lvl="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 Lack of organized queue systems leads to confusion while boarding buses</a:t>
            </a:r>
          </a:p>
          <a:p>
            <a:pPr lvl="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 Commuters do not receive real-time information about bus arrivals and waiting times</a:t>
            </a:r>
          </a:p>
          <a:p>
            <a:pPr lvl="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 Overcrowding negatively impacts safety, time efficiency, and user satisfaction</a:t>
            </a:r>
          </a:p>
          <a:p>
            <a:pPr lvl="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 There is a clear opportunity to use technology-based solutions to improve queue management</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                             Key Findings from Exploration:</a:t>
            </a:r>
          </a:p>
          <a:p>
            <a:pPr algn="just"/>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Most bus stops lack a defined or visible queue system, leading to confusion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Passengers often rush toward buses, causing queue jumping and conflicts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Elderly people, women, and persons with disabilities face difficulty boarding safely</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Overcrowding increases the risk of accidents and service delays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Bus drivers and conductors find it difficult to manage boarding efficiently</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Passengers do not receive real-time information about waiting time or queue position</a:t>
            </a:r>
          </a:p>
          <a:p>
            <a:pPr lvl="0" eaLnBrk="0" fontAlgn="base" hangingPunct="0">
              <a:spcBef>
                <a:spcPct val="0"/>
              </a:spcBef>
              <a:spcAft>
                <a:spcPct val="0"/>
              </a:spcAft>
            </a:pPr>
            <a:endParaRPr lang="en-US" altLang="en-US" sz="1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96717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74D5F0C-DF26-AD33-A46E-E43C82D316F9}"/>
              </a:ext>
            </a:extLst>
          </p:cNvPr>
          <p:cNvSpPr txBox="1"/>
          <p:nvPr/>
        </p:nvSpPr>
        <p:spPr>
          <a:xfrm>
            <a:off x="956345" y="645952"/>
            <a:ext cx="8716161" cy="510909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Stakeholder Analysis:</a:t>
            </a:r>
          </a:p>
          <a:p>
            <a:endParaRPr lang="en-US"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Primary Stakeholders: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Commuters / Passengers:</a:t>
            </a:r>
            <a:r>
              <a:rPr lang="en-US" sz="1600" dirty="0">
                <a:latin typeface="Times New Roman" panose="02020603050405020304" pitchFamily="18" charset="0"/>
                <a:cs typeface="Times New Roman" panose="02020603050405020304" pitchFamily="18" charset="0"/>
              </a:rPr>
              <a:t> Use the system for organized and fair boarding, reduced waiting time, and real-time queue information</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Elderly &amp; Persons with Disabilities:</a:t>
            </a:r>
            <a:r>
              <a:rPr lang="en-US" sz="1600" dirty="0">
                <a:latin typeface="Times New Roman" panose="02020603050405020304" pitchFamily="18" charset="0"/>
                <a:cs typeface="Times New Roman" panose="02020603050405020304" pitchFamily="18" charset="0"/>
              </a:rPr>
              <a:t> Receive priority access, safer boarding, reduced crowd pressure, and better accessibility</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Secondary Stakeholders: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Bus Drivers &amp; Conductors:</a:t>
            </a:r>
            <a:r>
              <a:rPr lang="en-US" sz="1600" dirty="0">
                <a:latin typeface="Times New Roman" panose="02020603050405020304" pitchFamily="18" charset="0"/>
                <a:cs typeface="Times New Roman" panose="02020603050405020304" pitchFamily="18" charset="0"/>
              </a:rPr>
              <a:t> Manage boarding efficiently, reduce conflicts, maintain schedules, and improve service flow</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Transport Authorities &amp; Safety Personnel:</a:t>
            </a:r>
            <a:r>
              <a:rPr lang="en-US" sz="1600" dirty="0">
                <a:latin typeface="Times New Roman" panose="02020603050405020304" pitchFamily="18" charset="0"/>
                <a:cs typeface="Times New Roman" panose="02020603050405020304" pitchFamily="18" charset="0"/>
              </a:rPr>
              <a:t> Monitor operations, analyze passenger data, improve scheduling, and ensure crowd safety</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Tertiary Stakeholders: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Technology Providers:</a:t>
            </a:r>
            <a:r>
              <a:rPr lang="en-US" sz="1600" dirty="0">
                <a:latin typeface="Times New Roman" panose="02020603050405020304" pitchFamily="18" charset="0"/>
                <a:cs typeface="Times New Roman" panose="02020603050405020304" pitchFamily="18" charset="0"/>
              </a:rPr>
              <a:t> Design, develop, maintain the system, and ensure reliability, scalability, and usability</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Local Government &amp; Businesses:</a:t>
            </a:r>
            <a:r>
              <a:rPr lang="en-US" sz="1600" dirty="0">
                <a:latin typeface="Times New Roman" panose="02020603050405020304" pitchFamily="18" charset="0"/>
                <a:cs typeface="Times New Roman" panose="02020603050405020304" pitchFamily="18" charset="0"/>
              </a:rPr>
              <a:t> Support urban planning decisions, manage congestion, and benefit from smoother pedestrian movement</a:t>
            </a:r>
          </a:p>
          <a:p>
            <a:endParaRPr lang="en-IN" dirty="0"/>
          </a:p>
        </p:txBody>
      </p:sp>
    </p:spTree>
    <p:extLst>
      <p:ext uri="{BB962C8B-B14F-4D97-AF65-F5344CB8AC3E}">
        <p14:creationId xmlns:p14="http://schemas.microsoft.com/office/powerpoint/2010/main" val="4230106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53FB4B7-7AB8-EF97-CA08-6EEEFA40AE7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16753" y="1400036"/>
            <a:ext cx="5386705" cy="4211320"/>
          </a:xfrm>
          <a:prstGeom prst="rect">
            <a:avLst/>
          </a:prstGeom>
          <a:noFill/>
          <a:ln>
            <a:noFill/>
          </a:ln>
        </p:spPr>
      </p:pic>
      <p:sp>
        <p:nvSpPr>
          <p:cNvPr id="10" name="TextBox 9">
            <a:extLst>
              <a:ext uri="{FF2B5EF4-FFF2-40B4-BE49-F238E27FC236}">
                <a16:creationId xmlns:a16="http://schemas.microsoft.com/office/drawing/2014/main" id="{59E916FC-9CE9-5BBC-7FF9-CD97434F8089}"/>
              </a:ext>
            </a:extLst>
          </p:cNvPr>
          <p:cNvSpPr txBox="1"/>
          <p:nvPr/>
        </p:nvSpPr>
        <p:spPr>
          <a:xfrm>
            <a:off x="3489820" y="562062"/>
            <a:ext cx="476494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Empathy Map:</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8348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8E3CA20-A24C-C164-E82E-E5595617D6C2}"/>
              </a:ext>
            </a:extLst>
          </p:cNvPr>
          <p:cNvSpPr txBox="1"/>
          <p:nvPr/>
        </p:nvSpPr>
        <p:spPr>
          <a:xfrm>
            <a:off x="2575423" y="931178"/>
            <a:ext cx="7298421" cy="3970318"/>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                                                     Define:</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How Might We (HMW) Questions </a:t>
            </a:r>
            <a:r>
              <a:rPr lang="en-IN" b="1" dirty="0">
                <a:latin typeface="Times New Roman" panose="02020603050405020304" pitchFamily="18" charset="0"/>
                <a:cs typeface="Times New Roman" panose="02020603050405020304" pitchFamily="18" charset="0"/>
              </a:rPr>
              <a:t>Based on Passenger Needs (Smart Queue System)</a:t>
            </a:r>
          </a:p>
          <a:p>
            <a:pPr algn="just"/>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How might we provide accurate real-time bus arrival information to commuters at bus stops?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How might we reduce overcrowding and confusion during peak hours?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How might we create a fair and organized queue system for smooth and disciplined boarding?</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How might we design a simple and accessible system usable by all age groups, including senior citizens?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How might we make waiting at bus stops safer, less stressful, and more predictable for commuters?</a:t>
            </a:r>
          </a:p>
          <a:p>
            <a:endParaRPr lang="en-IN" dirty="0"/>
          </a:p>
        </p:txBody>
      </p:sp>
    </p:spTree>
    <p:extLst>
      <p:ext uri="{BB962C8B-B14F-4D97-AF65-F5344CB8AC3E}">
        <p14:creationId xmlns:p14="http://schemas.microsoft.com/office/powerpoint/2010/main" val="859909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4AB2FF-00C4-8E7A-16DF-D42186355A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59099" y="1531674"/>
            <a:ext cx="6120130" cy="4079875"/>
          </a:xfrm>
          <a:prstGeom prst="rect">
            <a:avLst/>
          </a:prstGeom>
        </p:spPr>
      </p:pic>
      <p:sp>
        <p:nvSpPr>
          <p:cNvPr id="10" name="TextBox 9">
            <a:extLst>
              <a:ext uri="{FF2B5EF4-FFF2-40B4-BE49-F238E27FC236}">
                <a16:creationId xmlns:a16="http://schemas.microsoft.com/office/drawing/2014/main" id="{E666D850-BD3A-D28C-68B0-B5DD0A876562}"/>
              </a:ext>
            </a:extLst>
          </p:cNvPr>
          <p:cNvSpPr txBox="1"/>
          <p:nvPr/>
        </p:nvSpPr>
        <p:spPr>
          <a:xfrm>
            <a:off x="3665989" y="587229"/>
            <a:ext cx="432033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Customer Journey Map:</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7809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71942F65-E8EE-8E6C-07CB-79746386C71B}"/>
              </a:ext>
            </a:extLst>
          </p:cNvPr>
          <p:cNvSpPr txBox="1"/>
          <p:nvPr/>
        </p:nvSpPr>
        <p:spPr>
          <a:xfrm>
            <a:off x="1654029" y="1635853"/>
            <a:ext cx="8883941" cy="2708434"/>
          </a:xfrm>
          <a:prstGeom prst="rect">
            <a:avLst/>
          </a:prstGeom>
          <a:noFill/>
        </p:spPr>
        <p:txBody>
          <a:bodyPr wrap="square" rtlCol="0">
            <a:spAutoFit/>
          </a:bodyPr>
          <a:lstStyle/>
          <a:p>
            <a:r>
              <a:rPr lang="en-US" b="1" dirty="0"/>
              <a:t>                                      </a:t>
            </a:r>
            <a:r>
              <a:rPr lang="en-US" b="1" dirty="0">
                <a:latin typeface="Times New Roman" panose="02020603050405020304" pitchFamily="18" charset="0"/>
                <a:cs typeface="Times New Roman" panose="02020603050405020304" pitchFamily="18" charset="0"/>
              </a:rPr>
              <a:t>    IDEATE – Structuring Ideas:</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Storyboarding for Smart Queue System (Bus Stop)</a:t>
            </a:r>
          </a:p>
          <a:p>
            <a:endParaRPr lang="en-US" dirty="0"/>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Used storyboarding to visualize the complete commuter journey at the bus stop</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Broke down the experience into key interaction and decision points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Each visual panel represents actions at the bus stop or within the mobile application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Helped identify pain points such as long waiting times and overcrowding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Enabled the design of a smoother, safer, and more organized boarding experience</a:t>
            </a:r>
          </a:p>
          <a:p>
            <a:endParaRPr lang="en-IN" dirty="0"/>
          </a:p>
        </p:txBody>
      </p:sp>
    </p:spTree>
    <p:extLst>
      <p:ext uri="{BB962C8B-B14F-4D97-AF65-F5344CB8AC3E}">
        <p14:creationId xmlns:p14="http://schemas.microsoft.com/office/powerpoint/2010/main" val="4132147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2AC8D-4BBF-558D-6381-15120A5F02B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67246DD-9AF6-9539-1CFC-4A1ACC15DC0A}"/>
              </a:ext>
            </a:extLst>
          </p:cNvPr>
          <p:cNvSpPr txBox="1"/>
          <p:nvPr/>
        </p:nvSpPr>
        <p:spPr>
          <a:xfrm>
            <a:off x="620786" y="1082180"/>
            <a:ext cx="4580389" cy="4062651"/>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Step 1: Welcome / Entry Screen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User enters the system and views basic instructions or bus stop details.</a:t>
            </a:r>
          </a:p>
          <a:p>
            <a:r>
              <a:rPr lang="en-US" sz="1600" b="1" dirty="0">
                <a:latin typeface="Times New Roman" panose="02020603050405020304" pitchFamily="18" charset="0"/>
                <a:cs typeface="Times New Roman" panose="02020603050405020304" pitchFamily="18" charset="0"/>
              </a:rPr>
              <a:t>Step 2: Queue Enrolment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Passenger enrolls into the digital queue and receives a token or queue number.</a:t>
            </a:r>
          </a:p>
          <a:p>
            <a:r>
              <a:rPr lang="en-US" sz="1600" b="1" dirty="0">
                <a:latin typeface="Times New Roman" panose="02020603050405020304" pitchFamily="18" charset="0"/>
                <a:cs typeface="Times New Roman" panose="02020603050405020304" pitchFamily="18" charset="0"/>
              </a:rPr>
              <a:t>Step 3: Waiting Experience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User views real-time updates on waiting time, queue position, and bus arrival.</a:t>
            </a:r>
          </a:p>
          <a:p>
            <a:r>
              <a:rPr lang="en-US" sz="1600" b="1" dirty="0">
                <a:latin typeface="Times New Roman" panose="02020603050405020304" pitchFamily="18" charset="0"/>
                <a:cs typeface="Times New Roman" panose="02020603050405020304" pitchFamily="18" charset="0"/>
              </a:rPr>
              <a:t>Step 4: Bus Arrival &amp; Boarding</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Passengers are notified and guided for orderly and priority-based boarding.</a:t>
            </a:r>
          </a:p>
          <a:p>
            <a:r>
              <a:rPr lang="en-US" sz="1600" b="1" dirty="0">
                <a:latin typeface="Times New Roman" panose="02020603050405020304" pitchFamily="18" charset="0"/>
                <a:cs typeface="Times New Roman" panose="02020603050405020304" pitchFamily="18" charset="0"/>
              </a:rPr>
              <a:t>Step 5: Completion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Boarding is completed and the queue session ends successfully.</a:t>
            </a:r>
          </a:p>
          <a:p>
            <a:endParaRPr lang="en-IN" dirty="0"/>
          </a:p>
        </p:txBody>
      </p:sp>
      <p:sp>
        <p:nvSpPr>
          <p:cNvPr id="4" name="TextBox 3">
            <a:extLst>
              <a:ext uri="{FF2B5EF4-FFF2-40B4-BE49-F238E27FC236}">
                <a16:creationId xmlns:a16="http://schemas.microsoft.com/office/drawing/2014/main" id="{05299C10-32BE-769F-6FCC-A0EB591D1668}"/>
              </a:ext>
            </a:extLst>
          </p:cNvPr>
          <p:cNvSpPr txBox="1"/>
          <p:nvPr/>
        </p:nvSpPr>
        <p:spPr>
          <a:xfrm>
            <a:off x="3363985" y="318782"/>
            <a:ext cx="433710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Working Steps – Smart Queue System</a:t>
            </a:r>
            <a:r>
              <a:rPr lang="en-I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pic>
        <p:nvPicPr>
          <p:cNvPr id="8" name="Picture 7" descr="A diagram of a working steps">
            <a:extLst>
              <a:ext uri="{FF2B5EF4-FFF2-40B4-BE49-F238E27FC236}">
                <a16:creationId xmlns:a16="http://schemas.microsoft.com/office/drawing/2014/main" id="{12D93759-0B55-33E8-6D59-00F56AC600A9}"/>
              </a:ext>
            </a:extLst>
          </p:cNvPr>
          <p:cNvPicPr>
            <a:picLocks noChangeAspect="1"/>
          </p:cNvPicPr>
          <p:nvPr/>
        </p:nvPicPr>
        <p:blipFill>
          <a:blip r:embed="rId3"/>
          <a:stretch>
            <a:fillRect/>
          </a:stretch>
        </p:blipFill>
        <p:spPr>
          <a:xfrm>
            <a:off x="5470363" y="1082180"/>
            <a:ext cx="6398703" cy="4051883"/>
          </a:xfrm>
          <a:prstGeom prst="rect">
            <a:avLst/>
          </a:prstGeom>
        </p:spPr>
      </p:pic>
    </p:spTree>
    <p:extLst>
      <p:ext uri="{BB962C8B-B14F-4D97-AF65-F5344CB8AC3E}">
        <p14:creationId xmlns:p14="http://schemas.microsoft.com/office/powerpoint/2010/main" val="3286720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01591-BFA8-7D6A-C476-ED0F4AF3973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E86EC1B-254A-2C46-0170-D01BBBEC613F}"/>
              </a:ext>
            </a:extLst>
          </p:cNvPr>
          <p:cNvSpPr txBox="1"/>
          <p:nvPr/>
        </p:nvSpPr>
        <p:spPr>
          <a:xfrm>
            <a:off x="1149763" y="549370"/>
            <a:ext cx="3387055"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 Step 1: Welcome / Entry Screen</a:t>
            </a:r>
            <a:endParaRPr lang="en-IN" dirty="0"/>
          </a:p>
        </p:txBody>
      </p:sp>
      <p:sp>
        <p:nvSpPr>
          <p:cNvPr id="7" name="TextBox 6">
            <a:extLst>
              <a:ext uri="{FF2B5EF4-FFF2-40B4-BE49-F238E27FC236}">
                <a16:creationId xmlns:a16="http://schemas.microsoft.com/office/drawing/2014/main" id="{978A13D9-C765-2B3A-64A2-BEB75A35AB70}"/>
              </a:ext>
            </a:extLst>
          </p:cNvPr>
          <p:cNvSpPr txBox="1"/>
          <p:nvPr/>
        </p:nvSpPr>
        <p:spPr>
          <a:xfrm>
            <a:off x="5933114" y="549370"/>
            <a:ext cx="5109123"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                     Step 2: Queue Enrolment</a:t>
            </a:r>
            <a:endParaRPr lang="en-IN" dirty="0"/>
          </a:p>
        </p:txBody>
      </p:sp>
      <p:pic>
        <p:nvPicPr>
          <p:cNvPr id="2" name="Picture 1" descr="A screenshot of a login screen&#10;&#10;AI-generated content may be incorrect.">
            <a:extLst>
              <a:ext uri="{FF2B5EF4-FFF2-40B4-BE49-F238E27FC236}">
                <a16:creationId xmlns:a16="http://schemas.microsoft.com/office/drawing/2014/main" id="{A9BB3A62-851D-2F00-BC83-841EBFA41E7D}"/>
              </a:ext>
            </a:extLst>
          </p:cNvPr>
          <p:cNvPicPr>
            <a:picLocks noChangeAspect="1"/>
          </p:cNvPicPr>
          <p:nvPr/>
        </p:nvPicPr>
        <p:blipFill>
          <a:blip r:embed="rId3"/>
          <a:stretch>
            <a:fillRect/>
          </a:stretch>
        </p:blipFill>
        <p:spPr>
          <a:xfrm>
            <a:off x="889159" y="1250156"/>
            <a:ext cx="4067652" cy="5203032"/>
          </a:xfrm>
          <a:prstGeom prst="rect">
            <a:avLst/>
          </a:prstGeom>
        </p:spPr>
      </p:pic>
      <p:pic>
        <p:nvPicPr>
          <p:cNvPr id="6" name="Picture 5" descr="A screenshot of a phone&#10;&#10;AI-generated content may be incorrect.">
            <a:extLst>
              <a:ext uri="{FF2B5EF4-FFF2-40B4-BE49-F238E27FC236}">
                <a16:creationId xmlns:a16="http://schemas.microsoft.com/office/drawing/2014/main" id="{23E99754-C8D5-DE80-0CC1-C670946D1B14}"/>
              </a:ext>
            </a:extLst>
          </p:cNvPr>
          <p:cNvPicPr>
            <a:picLocks noChangeAspect="1"/>
          </p:cNvPicPr>
          <p:nvPr/>
        </p:nvPicPr>
        <p:blipFill>
          <a:blip r:embed="rId4"/>
          <a:stretch>
            <a:fillRect/>
          </a:stretch>
        </p:blipFill>
        <p:spPr>
          <a:xfrm>
            <a:off x="5386517" y="1250155"/>
            <a:ext cx="3204902" cy="5203033"/>
          </a:xfrm>
          <a:prstGeom prst="rect">
            <a:avLst/>
          </a:prstGeom>
        </p:spPr>
      </p:pic>
      <p:pic>
        <p:nvPicPr>
          <p:cNvPr id="8" name="Picture 7" descr="A screenshot of a phone&#10;&#10;AI-generated content may be incorrect.">
            <a:extLst>
              <a:ext uri="{FF2B5EF4-FFF2-40B4-BE49-F238E27FC236}">
                <a16:creationId xmlns:a16="http://schemas.microsoft.com/office/drawing/2014/main" id="{6835F807-D9FA-5F93-7A24-242E00F4390D}"/>
              </a:ext>
            </a:extLst>
          </p:cNvPr>
          <p:cNvPicPr>
            <a:picLocks noChangeAspect="1"/>
          </p:cNvPicPr>
          <p:nvPr/>
        </p:nvPicPr>
        <p:blipFill>
          <a:blip r:embed="rId5"/>
          <a:stretch>
            <a:fillRect/>
          </a:stretch>
        </p:blipFill>
        <p:spPr>
          <a:xfrm>
            <a:off x="8803004" y="1250156"/>
            <a:ext cx="2717960" cy="5203032"/>
          </a:xfrm>
          <a:prstGeom prst="rect">
            <a:avLst/>
          </a:prstGeom>
        </p:spPr>
      </p:pic>
    </p:spTree>
    <p:extLst>
      <p:ext uri="{BB962C8B-B14F-4D97-AF65-F5344CB8AC3E}">
        <p14:creationId xmlns:p14="http://schemas.microsoft.com/office/powerpoint/2010/main" val="2849992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377F9-F474-FA7C-11B4-3D1914D48B1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FD96709-4A32-15E0-A758-71E7DCABC40D}"/>
              </a:ext>
            </a:extLst>
          </p:cNvPr>
          <p:cNvSpPr txBox="1"/>
          <p:nvPr/>
        </p:nvSpPr>
        <p:spPr>
          <a:xfrm>
            <a:off x="2082800" y="691634"/>
            <a:ext cx="3412067" cy="369332"/>
          </a:xfrm>
          <a:prstGeom prst="rect">
            <a:avLst/>
          </a:prstGeom>
          <a:noFill/>
        </p:spPr>
        <p:txBody>
          <a:bodyPr wrap="square" lIns="91440" tIns="45720" rIns="91440" bIns="45720" anchor="t">
            <a:spAutoFit/>
          </a:bodyPr>
          <a:lstStyle/>
          <a:p>
            <a:r>
              <a:rPr lang="en-US" sz="1800" b="1">
                <a:latin typeface="Times New Roman"/>
                <a:cs typeface="Times New Roman"/>
              </a:rPr>
              <a:t>Step 3: </a:t>
            </a:r>
            <a:r>
              <a:rPr lang="en-US" b="1">
                <a:latin typeface="Times New Roman"/>
                <a:cs typeface="Times New Roman"/>
              </a:rPr>
              <a:t>Bus Arrival &amp; Boarding</a:t>
            </a:r>
            <a:endParaRPr lang="en-IN">
              <a:latin typeface="Times New Roman"/>
              <a:cs typeface="Times New Roman"/>
            </a:endParaRPr>
          </a:p>
        </p:txBody>
      </p:sp>
      <p:sp>
        <p:nvSpPr>
          <p:cNvPr id="11" name="TextBox 10">
            <a:extLst>
              <a:ext uri="{FF2B5EF4-FFF2-40B4-BE49-F238E27FC236}">
                <a16:creationId xmlns:a16="http://schemas.microsoft.com/office/drawing/2014/main" id="{71BAE565-020A-3C36-F763-6FF8D03EC3C8}"/>
              </a:ext>
            </a:extLst>
          </p:cNvPr>
          <p:cNvSpPr txBox="1"/>
          <p:nvPr/>
        </p:nvSpPr>
        <p:spPr>
          <a:xfrm>
            <a:off x="7772400" y="750901"/>
            <a:ext cx="3327401" cy="369332"/>
          </a:xfrm>
          <a:prstGeom prst="rect">
            <a:avLst/>
          </a:prstGeom>
          <a:noFill/>
        </p:spPr>
        <p:txBody>
          <a:bodyPr wrap="square" lIns="91440" tIns="45720" rIns="91440" bIns="45720" anchor="t">
            <a:spAutoFit/>
          </a:bodyPr>
          <a:lstStyle/>
          <a:p>
            <a:r>
              <a:rPr lang="en-US" b="1" dirty="0">
                <a:latin typeface="Times New Roman"/>
                <a:cs typeface="Times New Roman"/>
              </a:rPr>
              <a:t>          </a:t>
            </a:r>
            <a:r>
              <a:rPr lang="en-US" sz="1800" b="1" dirty="0">
                <a:latin typeface="Times New Roman"/>
                <a:cs typeface="Times New Roman"/>
              </a:rPr>
              <a:t>Step 4: </a:t>
            </a:r>
            <a:r>
              <a:rPr lang="en-US" b="1" dirty="0" err="1">
                <a:latin typeface="Times New Roman"/>
                <a:cs typeface="Times New Roman"/>
              </a:rPr>
              <a:t>Payement</a:t>
            </a:r>
            <a:endParaRPr lang="en-IN" dirty="0" err="1"/>
          </a:p>
        </p:txBody>
      </p:sp>
      <p:pic>
        <p:nvPicPr>
          <p:cNvPr id="3" name="Picture 2" descr="A screenshot of a bus terminal&#10;&#10;AI-generated content may be incorrect.">
            <a:extLst>
              <a:ext uri="{FF2B5EF4-FFF2-40B4-BE49-F238E27FC236}">
                <a16:creationId xmlns:a16="http://schemas.microsoft.com/office/drawing/2014/main" id="{E72A60A1-E6C8-5BF9-1C1F-2C7BB393D825}"/>
              </a:ext>
            </a:extLst>
          </p:cNvPr>
          <p:cNvPicPr>
            <a:picLocks noChangeAspect="1"/>
          </p:cNvPicPr>
          <p:nvPr/>
        </p:nvPicPr>
        <p:blipFill>
          <a:blip r:embed="rId3"/>
          <a:stretch>
            <a:fillRect/>
          </a:stretch>
        </p:blipFill>
        <p:spPr>
          <a:xfrm>
            <a:off x="7561584" y="1571625"/>
            <a:ext cx="3736332" cy="4691062"/>
          </a:xfrm>
          <a:prstGeom prst="rect">
            <a:avLst/>
          </a:prstGeom>
        </p:spPr>
      </p:pic>
      <p:pic>
        <p:nvPicPr>
          <p:cNvPr id="4" name="Picture 3" descr="A screen shot of a phone&#10;&#10;AI-generated content may be incorrect.">
            <a:extLst>
              <a:ext uri="{FF2B5EF4-FFF2-40B4-BE49-F238E27FC236}">
                <a16:creationId xmlns:a16="http://schemas.microsoft.com/office/drawing/2014/main" id="{022BB7B4-AAA1-F5E8-389C-C28D68F18BB1}"/>
              </a:ext>
            </a:extLst>
          </p:cNvPr>
          <p:cNvPicPr>
            <a:picLocks noChangeAspect="1"/>
          </p:cNvPicPr>
          <p:nvPr/>
        </p:nvPicPr>
        <p:blipFill>
          <a:blip r:embed="rId4"/>
          <a:stretch>
            <a:fillRect/>
          </a:stretch>
        </p:blipFill>
        <p:spPr>
          <a:xfrm>
            <a:off x="2080648" y="1559719"/>
            <a:ext cx="3184862" cy="4691062"/>
          </a:xfrm>
          <a:prstGeom prst="rect">
            <a:avLst/>
          </a:prstGeom>
        </p:spPr>
      </p:pic>
    </p:spTree>
    <p:extLst>
      <p:ext uri="{BB962C8B-B14F-4D97-AF65-F5344CB8AC3E}">
        <p14:creationId xmlns:p14="http://schemas.microsoft.com/office/powerpoint/2010/main" val="3797937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BF0F1-E775-375E-4881-0ED772D9FA3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13F2A63-40E9-5493-D7FE-8AF81D829B1B}"/>
              </a:ext>
            </a:extLst>
          </p:cNvPr>
          <p:cNvSpPr txBox="1"/>
          <p:nvPr/>
        </p:nvSpPr>
        <p:spPr>
          <a:xfrm>
            <a:off x="5194056" y="646207"/>
            <a:ext cx="2490421"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Step 5: Completion</a:t>
            </a:r>
            <a:endParaRPr lang="en-IN" dirty="0"/>
          </a:p>
        </p:txBody>
      </p:sp>
      <p:pic>
        <p:nvPicPr>
          <p:cNvPr id="2" name="Picture 1" descr="A screenshot of a phone&#10;&#10;AI-generated content may be incorrect.">
            <a:extLst>
              <a:ext uri="{FF2B5EF4-FFF2-40B4-BE49-F238E27FC236}">
                <a16:creationId xmlns:a16="http://schemas.microsoft.com/office/drawing/2014/main" id="{9A8B9C0E-DD51-DB88-A0E2-D678A7E9BD60}"/>
              </a:ext>
            </a:extLst>
          </p:cNvPr>
          <p:cNvPicPr>
            <a:picLocks noChangeAspect="1"/>
          </p:cNvPicPr>
          <p:nvPr/>
        </p:nvPicPr>
        <p:blipFill>
          <a:blip r:embed="rId3"/>
          <a:stretch>
            <a:fillRect/>
          </a:stretch>
        </p:blipFill>
        <p:spPr>
          <a:xfrm>
            <a:off x="4243977" y="1166813"/>
            <a:ext cx="4108859" cy="5453063"/>
          </a:xfrm>
          <a:prstGeom prst="rect">
            <a:avLst/>
          </a:prstGeom>
        </p:spPr>
      </p:pic>
    </p:spTree>
    <p:extLst>
      <p:ext uri="{BB962C8B-B14F-4D97-AF65-F5344CB8AC3E}">
        <p14:creationId xmlns:p14="http://schemas.microsoft.com/office/powerpoint/2010/main" val="848517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58B33-38A8-D2D3-F95E-9C9B36EF2A6D}"/>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5C650B31-02D3-6EE3-C927-1C66F74E553E}"/>
              </a:ext>
            </a:extLst>
          </p:cNvPr>
          <p:cNvSpPr txBox="1"/>
          <p:nvPr/>
        </p:nvSpPr>
        <p:spPr>
          <a:xfrm>
            <a:off x="1577829" y="789186"/>
            <a:ext cx="8883941" cy="437042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PROTOTYPE – Click-Through Prototype:</a:t>
            </a:r>
          </a:p>
          <a:p>
            <a:endParaRPr lang="en-US"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Overview:</a:t>
            </a:r>
            <a:r>
              <a:rPr lang="en-US" sz="1600" dirty="0">
                <a:latin typeface="Times New Roman" panose="02020603050405020304" pitchFamily="18" charset="0"/>
                <a:cs typeface="Times New Roman" panose="02020603050405020304" pitchFamily="18" charset="0"/>
              </a:rPr>
              <a:t> Interactive digital mock-up simulating user flow, bus arrival details, digital queue joining, notifications, and organized boarding.</a:t>
            </a:r>
          </a:p>
          <a:p>
            <a:r>
              <a:rPr lang="en-US" sz="1600" b="1" dirty="0">
                <a:latin typeface="Times New Roman" panose="02020603050405020304" pitchFamily="18" charset="0"/>
                <a:cs typeface="Times New Roman" panose="02020603050405020304" pitchFamily="18" charset="0"/>
              </a:rPr>
              <a:t>Benefits:</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Simulates commuter journey from bus stop entry to boarding</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Provides real-time bus updates, queue positions, and alerts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Cost and time efficient; allows early feedback</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Identifies usability, accessibility, and navigation issues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Supports stakeholder and commuter feedback for iteration</a:t>
            </a:r>
          </a:p>
          <a:p>
            <a:r>
              <a:rPr lang="en-US" sz="1600" b="1" dirty="0">
                <a:latin typeface="Times New Roman" panose="02020603050405020304" pitchFamily="18" charset="0"/>
                <a:cs typeface="Times New Roman" panose="02020603050405020304" pitchFamily="18" charset="0"/>
              </a:rPr>
              <a:t>Creation Approach:</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Tools: </a:t>
            </a:r>
            <a:r>
              <a:rPr lang="en-US" sz="1600" b="1" dirty="0">
                <a:latin typeface="Times New Roman" panose="02020603050405020304" pitchFamily="18" charset="0"/>
                <a:cs typeface="Times New Roman" panose="02020603050405020304" pitchFamily="18" charset="0"/>
              </a:rPr>
              <a:t>Figma, Adobe XD, InVision</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Key Screens: Home, Scan QR / Stop ID, Available Buses, Queue Status, Boarding Notification, Feedback</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Interactions: Scan QR → Join Queue → View Bus Details → Board Now</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Features: Transport-friendly colors, icons, smooth transitions</a:t>
            </a:r>
          </a:p>
          <a:p>
            <a:endParaRPr lang="en-IN" dirty="0"/>
          </a:p>
        </p:txBody>
      </p:sp>
    </p:spTree>
    <p:extLst>
      <p:ext uri="{BB962C8B-B14F-4D97-AF65-F5344CB8AC3E}">
        <p14:creationId xmlns:p14="http://schemas.microsoft.com/office/powerpoint/2010/main" val="2083066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09E6B-CE12-B072-A063-70A2F9E39BEB}"/>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2EC795B2-7775-D554-0364-78E70BF4455C}"/>
              </a:ext>
            </a:extLst>
          </p:cNvPr>
          <p:cNvSpPr txBox="1"/>
          <p:nvPr/>
        </p:nvSpPr>
        <p:spPr>
          <a:xfrm>
            <a:off x="1510095" y="889843"/>
            <a:ext cx="8883941" cy="461664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USABILITY TESTING – Smart Queue System:</a:t>
            </a:r>
          </a:p>
          <a:p>
            <a:endParaRPr lang="en-IN"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Purpose:</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Observe real users interacting with the prototype to evaluate usability, navigation, and functionality</a:t>
            </a:r>
          </a:p>
          <a:p>
            <a:r>
              <a:rPr lang="en-IN" sz="1600" dirty="0">
                <a:latin typeface="Times New Roman" panose="02020603050405020304" pitchFamily="18" charset="0"/>
                <a:cs typeface="Times New Roman" panose="02020603050405020304" pitchFamily="18" charset="0"/>
              </a:rPr>
              <a:t>Identify main points, improve user flow, and enhance commuter experience</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Key Steps:</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Define Goals: Test queue joining, token checking, notifications</a:t>
            </a:r>
          </a:p>
          <a:p>
            <a:r>
              <a:rPr lang="en-IN" sz="1600" dirty="0">
                <a:latin typeface="Times New Roman" panose="02020603050405020304" pitchFamily="18" charset="0"/>
                <a:cs typeface="Times New Roman" panose="02020603050405020304" pitchFamily="18" charset="0"/>
              </a:rPr>
              <a:t>Select Participants: 5–10 users (commuters, elderly, staff)</a:t>
            </a:r>
          </a:p>
          <a:p>
            <a:r>
              <a:rPr lang="en-IN" sz="1600" dirty="0">
                <a:latin typeface="Times New Roman" panose="02020603050405020304" pitchFamily="18" charset="0"/>
                <a:cs typeface="Times New Roman" panose="02020603050405020304" pitchFamily="18" charset="0"/>
              </a:rPr>
              <a:t>Create Scenarios: Tasks like joining queue, viewing status, responding to alerts</a:t>
            </a:r>
          </a:p>
          <a:p>
            <a:r>
              <a:rPr lang="en-IN" sz="1600" dirty="0">
                <a:latin typeface="Times New Roman" panose="02020603050405020304" pitchFamily="18" charset="0"/>
                <a:cs typeface="Times New Roman" panose="02020603050405020304" pitchFamily="18" charset="0"/>
              </a:rPr>
              <a:t>Conduct Test: Independent interaction with observation, think-aloud encouraged</a:t>
            </a:r>
          </a:p>
          <a:p>
            <a:r>
              <a:rPr lang="en-IN" sz="1600" dirty="0">
                <a:latin typeface="Times New Roman" panose="02020603050405020304" pitchFamily="18" charset="0"/>
                <a:cs typeface="Times New Roman" panose="02020603050405020304" pitchFamily="18" charset="0"/>
              </a:rPr>
              <a:t>Collect Feedback &amp; Analyse Results: Identify difficulties, unclear info, or failed tasks</a:t>
            </a:r>
          </a:p>
          <a:p>
            <a:r>
              <a:rPr lang="en-IN" sz="1600" dirty="0">
                <a:latin typeface="Times New Roman" panose="02020603050405020304" pitchFamily="18" charset="0"/>
                <a:cs typeface="Times New Roman" panose="02020603050405020304" pitchFamily="18" charset="0"/>
              </a:rPr>
              <a:t>Implement Improvements: Simplify navigation, improve clarity, enhance notifications</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Focus Areas:</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Navigation, content layout, interactive elements, feedback mechanisms</a:t>
            </a:r>
          </a:p>
          <a:p>
            <a:r>
              <a:rPr lang="en-IN" sz="1600" dirty="0">
                <a:latin typeface="Times New Roman" panose="02020603050405020304" pitchFamily="18" charset="0"/>
                <a:cs typeface="Times New Roman" panose="02020603050405020304" pitchFamily="18" charset="0"/>
              </a:rPr>
              <a:t>Early issue detection saves time &amp; cost, improves user satisfaction, reduces waiting stress</a:t>
            </a:r>
          </a:p>
          <a:p>
            <a:endParaRPr lang="en-IN" dirty="0"/>
          </a:p>
        </p:txBody>
      </p:sp>
    </p:spTree>
    <p:extLst>
      <p:ext uri="{BB962C8B-B14F-4D97-AF65-F5344CB8AC3E}">
        <p14:creationId xmlns:p14="http://schemas.microsoft.com/office/powerpoint/2010/main" val="3624897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4250267" y="592666"/>
            <a:ext cx="5641848" cy="5029200"/>
          </a:xfrm>
        </p:spPr>
        <p:txBody>
          <a:bodyPr/>
          <a:lstStyle/>
          <a:p>
            <a:r>
              <a:rPr lang="en-US" dirty="0"/>
              <a:t>    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{D3A8CC09-DC01-4A99-8F1C-63ABB164D621}tf11964407_win32</Template>
  <TotalTime>65</TotalTime>
  <Words>1077</Words>
  <Application>Microsoft Office PowerPoint</Application>
  <PresentationFormat>Widescreen</PresentationFormat>
  <Paragraphs>122</Paragraphs>
  <Slides>15</Slides>
  <Notes>14</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Custom</vt:lpstr>
      <vt:lpstr>Smart Queue System</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Meghana Sripathi</dc:creator>
  <cp:lastModifiedBy>Meghana Sripathi</cp:lastModifiedBy>
  <cp:revision>70</cp:revision>
  <dcterms:created xsi:type="dcterms:W3CDTF">2025-12-25T11:47:28Z</dcterms:created>
  <dcterms:modified xsi:type="dcterms:W3CDTF">2026-04-16T13:09:58Z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